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5" r:id="rId16"/>
    <p:sldId id="266" r:id="rId17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14255" y="-1280160"/>
            <a:ext cx="3840480" cy="3840480"/>
          </a:xfrm>
          <a:prstGeom prst="ellipse">
            <a:avLst/>
          </a:prstGeom>
          <a:solidFill>
            <a:srgbClr val="00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00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965960"/>
            <a:ext cx="12191695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BFE1F2"/>
                </a:solidFill>
                <a:latin typeface="Calibri"/>
              </a:rPr>
              <a:t>comunicações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LAW</a:t>
            </a:r>
            <a:r>
              <a:rPr sz="5400" b="0">
                <a:solidFill>
                  <a:srgbClr val="FFFFFF"/>
                </a:solidFill>
                <a:latin typeface="Calibri"/>
              </a:rPr>
              <a:t>gico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429000"/>
            <a:ext cx="12191695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Manual — Comunicações Bridgestone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BFE1F2"/>
                </a:solidFill>
                <a:latin typeface="Calibri"/>
              </a:rPr>
              <a:t>Sistema de comunicações e registros do contencioso trabalhista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5547207" y="4892040"/>
            <a:ext cx="1097280" cy="27432"/>
          </a:xfrm>
          <a:prstGeom prst="rect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035040"/>
            <a:ext cx="12191695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8FB9CE"/>
                </a:solidFill>
                <a:latin typeface="Calibri"/>
              </a:rPr>
              <a:t>Peixoto &amp; Cury Advogados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233172"/>
            <a:ext cx="768096" cy="7680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14300"/>
            <a:ext cx="100584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Visão Geral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E1F2"/>
                </a:solidFill>
                <a:latin typeface="Calibri"/>
              </a:rPr>
              <a:t>6 abas, um único fluxo: preencher → e-mail pronto → histórico salvo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7592" y="1545336"/>
            <a:ext cx="541324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3B5C"/>
                </a:solidFill>
                <a:latin typeface="Calibri"/>
              </a:rPr>
              <a:t>Comunicação de Perícia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Avisa perito/perícia médica, técnica ou ergonômica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440200"/>
            <a:ext cx="457200" cy="45720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2385336"/>
            <a:ext cx="541324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3B5C"/>
                </a:solidFill>
                <a:latin typeface="Calibri"/>
              </a:rPr>
              <a:t>Solicitação de Cálculos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Pede cálculos à consultoria contábil externa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80200"/>
            <a:ext cx="457200" cy="45720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3225336"/>
            <a:ext cx="541324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3B5C"/>
                </a:solidFill>
                <a:latin typeface="Calibri"/>
              </a:rPr>
              <a:t>Reporte de Decisão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Periculosidade, insalubridade, sentença e acórdãos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120200"/>
            <a:ext cx="457200" cy="45720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4065336"/>
            <a:ext cx="541324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3B5C"/>
                </a:solidFill>
                <a:latin typeface="Calibri"/>
              </a:rPr>
              <a:t>Reporte de Acordos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Controle de negociação e valores de acordo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960200"/>
            <a:ext cx="457200" cy="45720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4905336"/>
            <a:ext cx="541324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03B5C"/>
                </a:solidFill>
                <a:latin typeface="Calibri"/>
              </a:rPr>
              <a:t>Inserção de Valores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Advogado solicita, assistente confirma a inserção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1600200"/>
            <a:ext cx="4297680" cy="4160520"/>
          </a:xfrm>
          <a:prstGeom prst="roundRect">
            <a:avLst>
              <a:gd name="adj" fmla="val 6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810512"/>
            <a:ext cx="3794760" cy="37490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03B5C"/>
                </a:solidFill>
                <a:latin typeface="Calibri"/>
              </a:rPr>
              <a:t>Como funciona (vale pras 5 abas com e-mail)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O e-mail abre pronto no seu Outlook — o remetente é sempre quem preenche o formulário.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Os destinatários mudam sozinhos conforme as regras de cada aba.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Todo registro salvo fica num histórico com busca por processo/reclamante.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Cada histórico pode ser exportado em Excel a qualquer momento.</a:t>
            </a:r>
          </a:p>
          <a:p>
            <a:pPr algn="l">
              <a:lnSpc>
                <a:spcPct val="120000"/>
              </a:lnSpc>
              <a:spcAft>
                <a:spcPts val="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Todo registro pode ser excluído (com confirmação) se for teste ou erro.</a:t>
            </a:r>
          </a:p>
          <a:p>
            <a:r>
              <a:rPr sz="1200" b="0">
                <a:solidFill>
                  <a:srgbClr val="2D2926"/>
                </a:solidFill>
                <a:latin typeface="Calibri"/>
              </a:rPr>
              <a:t>  Lançamento IA foge da regra: não gera e-mail nem salva histórico — é só apoio pra montar valores.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2 / 11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5800200"/>
            <a:ext cx="457200" cy="45720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5745336"/>
            <a:ext cx="54132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3B5C"/>
                </a:solidFill>
                <a:latin typeface="Calibri"/>
              </a:rPr>
              <a:t>Lançamento IA</a:t>
            </a:r>
          </a:p>
          <a:p>
            <a:r>
              <a:rPr sz="1150" b="0">
                <a:solidFill>
                  <a:srgbClr val="2D2926"/>
                </a:solidFill>
                <a:latin typeface="Calibri"/>
              </a:rPr>
              <a:t>Extrai valores de PDF/XLSX pra alimentar a Inserção de Valores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233172"/>
            <a:ext cx="768096" cy="7680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14300"/>
            <a:ext cx="100584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Comunicação de Perícia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E1F2"/>
                </a:solidFill>
                <a:latin typeface="Calibri"/>
              </a:rPr>
              <a:t>Quem usa: qualquer advogado/assistente avisando uma perícia agendada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03B5C"/>
                </a:solidFill>
                <a:latin typeface="Calibri"/>
              </a:rPr>
              <a:t>Campos principais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Número do Processo e Nome do Reclamante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Empregado próprio ou terceiro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Tipo de perícia: Médica, Técnica ou Ergonômica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Data/horário, nome do perito e endereço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Link para a íntegra dos autos</a:t>
            </a:r>
          </a:p>
          <a:p>
            <a:pPr algn="l">
              <a:spcAft>
                <a:spcPts val="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Texto do e-mail e advogado responsável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78040" y="1600200"/>
            <a:ext cx="4297680" cy="4160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7F0"/>
            </a:solidFill>
          </a:ln>
          <a:effectLst/>
          <a:effectLst>
            <a:outerShdw blurRad="90000" dist="25000" dir="5400000" rotWithShape="0">
              <a:srgbClr val="00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828800"/>
            <a:ext cx="3794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003B5C"/>
                </a:solidFill>
                <a:latin typeface="Calibri"/>
              </a:rPr>
              <a:t>✉️  Pra onde vai o e-mail</a:t>
            </a:r>
          </a:p>
        </p:txBody>
      </p:sp>
      <p:sp>
        <p:nvSpPr>
          <p:cNvPr id="8" name="Oval 7"/>
          <p:cNvSpPr/>
          <p:nvPr/>
        </p:nvSpPr>
        <p:spPr>
          <a:xfrm>
            <a:off x="7452360" y="2423160"/>
            <a:ext cx="384048" cy="384048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377440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03B5C"/>
                </a:solidFill>
                <a:latin typeface="Calibri"/>
              </a:rPr>
              <a:t>Tipo de perícia = Técnica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D2926"/>
                </a:solidFill>
                <a:latin typeface="Calibri"/>
              </a:rPr>
              <a:t>cirellipericias@hotmail.com — cc Grupo Bridgestone</a:t>
            </a:r>
          </a:p>
        </p:txBody>
      </p:sp>
      <p:sp>
        <p:nvSpPr>
          <p:cNvPr id="10" name="Oval 9"/>
          <p:cNvSpPr/>
          <p:nvPr/>
        </p:nvSpPr>
        <p:spPr>
          <a:xfrm>
            <a:off x="7452360" y="3429000"/>
            <a:ext cx="384048" cy="384048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338328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03B5C"/>
                </a:solidFill>
                <a:latin typeface="Calibri"/>
              </a:rPr>
              <a:t>Tipo de perícia = Médica ou Ergonômica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D2926"/>
                </a:solidFill>
                <a:latin typeface="Calibri"/>
              </a:rPr>
              <a:t>cirellipericias@hotmail.com, consultorio@nko.med.br, nelson@nko.med.br — cc Grupo Bridgestone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8040" y="470916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E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9208" y="4800600"/>
            <a:ext cx="3895344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003B5C"/>
                </a:solidFill>
                <a:latin typeface="Calibri"/>
              </a:rPr>
              <a:t>ℹ️  Os destinatários mudam sozinhos assim que você escolhe o tipo de perícia — repare na dica que aparece embaixo do campo.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233172"/>
            <a:ext cx="768096" cy="7680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14300"/>
            <a:ext cx="100584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Solicitação de Cálculos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E1F2"/>
                </a:solidFill>
                <a:latin typeface="Calibri"/>
              </a:rPr>
              <a:t>Quem usa: advogados solicitando cálculos à consultoria contábil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603504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03B5C"/>
                </a:solidFill>
                <a:latin typeface="Calibri"/>
              </a:rPr>
              <a:t>Campos principais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Número do Processo e Nome do Reclamante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Tipo de subsídio (15 opções): Cálculo Inicial, Cálculo do Laudo Pericial, Provisão de Sentença/Acórdão/TST, Discriminação de Verbas p/ Acordo, Impugnações, Embargos à Execução, Agravo de Petição, Quesitos, entre outros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Link p/ íntegra e documentos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Prazo para envio</a:t>
            </a:r>
          </a:p>
          <a:p>
            <a:pPr algn="l">
              <a:spcAft>
                <a:spcPts val="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Responsável pela solicitação (sigla)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78040" y="1600200"/>
            <a:ext cx="4297680" cy="27432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7F0"/>
            </a:solidFill>
          </a:ln>
          <a:effectLst/>
          <a:effectLst>
            <a:outerShdw blurRad="90000" dist="25000" dir="5400000" rotWithShape="0">
              <a:srgbClr val="00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828800"/>
            <a:ext cx="379476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003B5C"/>
                </a:solidFill>
                <a:latin typeface="Calibri"/>
              </a:rPr>
              <a:t>✉️  Pra onde vai o e-mail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D2926"/>
                </a:solidFill>
                <a:latin typeface="Calibri"/>
              </a:rPr>
              <a:t>Sempre — não muda com o tipo de subsídio: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03B5C"/>
                </a:solidFill>
                <a:latin typeface="Calibri"/>
              </a:rPr>
              <a:t>Para: consulta@madiconsultoria.com.br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Cc: atendimento@madipericia.com, michele@madiconsultoria.com.br, Grupo Bridgestone, Grupo de Requantificação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457200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E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9208" y="4663440"/>
            <a:ext cx="3895344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003B5C"/>
                </a:solidFill>
                <a:latin typeface="Calibri"/>
              </a:rPr>
              <a:t>ℹ️  É a única aba com destinatário fixo — o tipo de subsídio só entra no assunto e no corpo do e-mail.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164592"/>
            <a:ext cx="768096" cy="7680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5719"/>
            <a:ext cx="100584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Reporte de Decisão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E1F2"/>
                </a:solidFill>
                <a:latin typeface="Calibri"/>
              </a:rPr>
              <a:t>A aba mais completa — periculosidade, insalubridade, sentença e acórdãos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2606040" cy="1965960"/>
          </a:xfrm>
          <a:prstGeom prst="roundRect">
            <a:avLst>
              <a:gd name="adj" fmla="val 7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72768"/>
            <a:ext cx="2276856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 i="0">
                <a:solidFill>
                  <a:srgbClr val="003B5C"/>
                </a:solidFill>
                <a:latin typeface="Calibri"/>
              </a:rPr>
              <a:t>Periculosidade / Insalubridade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D2926"/>
                </a:solidFill>
                <a:latin typeface="Calibri"/>
              </a:rPr>
              <a:t>Perícia + Laudo com motivos em checkbox (mais de um ao mesmo tempo) + fundamentação técnica quando favorável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417320"/>
            <a:ext cx="2606040" cy="1965960"/>
          </a:xfrm>
          <a:prstGeom prst="roundRect">
            <a:avLst>
              <a:gd name="adj" fmla="val 7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1024" y="1572768"/>
            <a:ext cx="2276856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 i="0">
                <a:solidFill>
                  <a:srgbClr val="003B5C"/>
                </a:solidFill>
                <a:latin typeface="Calibri"/>
              </a:rPr>
              <a:t>Ergonômico / Perícia Médica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D2926"/>
                </a:solidFill>
                <a:latin typeface="Calibri"/>
              </a:rPr>
              <a:t>Doença e Área do Corpo padronizadas em checkbox (46 doenças / 22 áreas)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417320"/>
            <a:ext cx="2606040" cy="1965960"/>
          </a:xfrm>
          <a:prstGeom prst="roundRect">
            <a:avLst>
              <a:gd name="adj" fmla="val 7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1572768"/>
            <a:ext cx="2276856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 i="0">
                <a:solidFill>
                  <a:srgbClr val="003B5C"/>
                </a:solidFill>
                <a:latin typeface="Calibri"/>
              </a:rPr>
              <a:t>Sentença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D2926"/>
                </a:solidFill>
                <a:latin typeface="Calibri"/>
              </a:rPr>
              <a:t>Resultado, Causa Raiz, Reintegração, Coisa Julgada, e comparação com o laudo (igual/não/parcial)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1417320"/>
            <a:ext cx="2606040" cy="1965960"/>
          </a:xfrm>
          <a:prstGeom prst="roundRect">
            <a:avLst>
              <a:gd name="adj" fmla="val 7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62288" y="1572768"/>
            <a:ext cx="2276856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 i="0">
                <a:solidFill>
                  <a:srgbClr val="003B5C"/>
                </a:solidFill>
                <a:latin typeface="Calibri"/>
              </a:rPr>
              <a:t>Acórdão TRT / TST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D2926"/>
                </a:solidFill>
                <a:latin typeface="Calibri"/>
              </a:rPr>
              <a:t>Resultado (manteve/reforma parcial ou total) + Turma (1ª–18ª SP / 1ª–8ª TST)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566160"/>
            <a:ext cx="10835640" cy="16916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7F0"/>
            </a:solidFill>
          </a:ln>
          <a:effectLst/>
          <a:effectLst>
            <a:outerShdw blurRad="90000" dist="25000" dir="5400000" rotWithShape="0">
              <a:srgbClr val="00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675887"/>
            <a:ext cx="1042416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03B5C"/>
                </a:solidFill>
                <a:latin typeface="Calibri"/>
              </a:rPr>
              <a:t>✉️  Regra de envio — toda decisão é enviada, sempre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 i="0">
                <a:solidFill>
                  <a:srgbClr val="C0392B"/>
                </a:solidFill>
                <a:latin typeface="Calibri"/>
              </a:rPr>
              <a:t>"Envio para o Cliente" decide só PRA QUEM vai — nunca SE vai. Não existe reporte sem envio.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  <a:buFont typeface="Calibri"/>
              <a:buChar char="—"/>
            </a:pPr>
            <a:r>
              <a:rPr sz="1100" b="0" i="0">
                <a:solidFill>
                  <a:srgbClr val="2D2926"/>
                </a:solidFill>
                <a:latin typeface="Calibri"/>
              </a:rPr>
              <a:t>  Sim  →  Higor Viali + Maria Muller (+ Shana, se "Inserir Gerência" = Sim) — cc Grupo Bridgestone</a:t>
            </a:r>
          </a:p>
          <a:p>
            <a:pPr algn="l">
              <a:lnSpc>
                <a:spcPct val="110000"/>
              </a:lnSpc>
              <a:spcAft>
                <a:spcPts val="0"/>
              </a:spcAft>
              <a:buFont typeface="Calibri"/>
              <a:buChar char="—"/>
            </a:pPr>
            <a:r>
              <a:rPr sz="1100" b="0" i="0">
                <a:solidFill>
                  <a:srgbClr val="2D2926"/>
                </a:solidFill>
                <a:latin typeface="Calibri"/>
              </a:rPr>
              <a:t>  Não  →  fica só interno, vai só pro Grupo Bridgestone (mas ainda é enviado)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440680"/>
            <a:ext cx="10835640" cy="77724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5532120"/>
            <a:ext cx="10433304" cy="594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C0392B"/>
                </a:solidFill>
                <a:latin typeface="Calibri"/>
              </a:rPr>
              <a:t>⚠️  8 modelos de e-mail disponíveis (Laudo Médico, Ergonômico, Técnico, Sentença, Embargos, Acórdão TRT/TST, Execução). Só o 1º marcado abre sozinho — os demais viram botões pra clicar um de cada vez.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233172"/>
            <a:ext cx="768096" cy="7680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14300"/>
            <a:ext cx="100584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Reporte de Acordos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E1F2"/>
                </a:solidFill>
                <a:latin typeface="Calibri"/>
              </a:rPr>
              <a:t>Quem usa: advogado fechando ou negociando um acordo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94360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03B5C"/>
                </a:solidFill>
                <a:latin typeface="Calibri"/>
              </a:rPr>
              <a:t>Campos principais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Identificação: processo, reclamante, reclamada, vara, escritório, advogado responsável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Negociação: status do acordo, homologação, contraproposta, proposta, PAUTÃO</a:t>
            </a:r>
          </a:p>
          <a:p>
            <a:pPr algn="l">
              <a:spcAft>
                <a:spcPts val="80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Valores: Total Provável, Total Accrual, Valor Pago</a:t>
            </a:r>
          </a:p>
          <a:p>
            <a:pPr algn="l">
              <a:spcAft>
                <a:spcPts val="0"/>
              </a:spcAft>
              <a:buFont typeface="Calibri"/>
              <a:buChar char="—"/>
            </a:pPr>
            <a:r>
              <a:rPr sz="1200" b="0" i="0">
                <a:solidFill>
                  <a:srgbClr val="2D2926"/>
                </a:solidFill>
                <a:latin typeface="Calibri"/>
              </a:rPr>
              <a:t>  Datas e Aprovações: protocolo, pagamento, autorizações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78040" y="1600200"/>
            <a:ext cx="4297680" cy="2011680"/>
          </a:xfrm>
          <a:prstGeom prst="roundRect">
            <a:avLst>
              <a:gd name="adj" fmla="val 7000"/>
            </a:avLst>
          </a:prstGeom>
          <a:solidFill>
            <a:srgbClr val="E1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783080"/>
            <a:ext cx="3840480" cy="1691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1" i="0">
                <a:solidFill>
                  <a:srgbClr val="117A65"/>
                </a:solidFill>
                <a:latin typeface="Calibri"/>
              </a:rPr>
              <a:t>Economia = Accrual − Valor Pago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Calculada e classificada sozinha (Acima de 10% / 0–10% / Custo adicional) assim que você preenche os 3 valores.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379476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E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9208" y="3886200"/>
            <a:ext cx="3895344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003B5C"/>
                </a:solidFill>
                <a:latin typeface="Calibri"/>
              </a:rPr>
              <a:t>ℹ️  Esta aba não gera e-mail — é só um registro interno de controle.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4846320"/>
            <a:ext cx="42976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9208" y="4937759"/>
            <a:ext cx="3895344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C0392B"/>
                </a:solidFill>
                <a:latin typeface="Calibri"/>
              </a:rPr>
              <a:t>⚠️  Digite valores sem separador de milhar: 360000, não 360.000.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233172"/>
            <a:ext cx="768096" cy="7680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14300"/>
            <a:ext cx="1005840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Inserção de Valores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E1F2"/>
                </a:solidFill>
                <a:latin typeface="Calibri"/>
              </a:rPr>
              <a:t>Fluxo de duas pontas: advogado solicita → assistente confirma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7592" y="1627632"/>
            <a:ext cx="280720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3B5C"/>
                </a:solidFill>
                <a:latin typeface="Calibri"/>
              </a:rPr>
              <a:t>Advogado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2D2926"/>
                </a:solidFill>
                <a:latin typeface="Calibri"/>
              </a:rPr>
              <a:t>Preenche Identificação + Cálculo
(Tipo de Decisão/Cálculo)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91640"/>
            <a:ext cx="3657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A9E0"/>
                </a:solidFill>
                <a:latin typeface="Calibri"/>
              </a:rPr>
              <a:t>→</a:t>
            </a:r>
          </a:p>
        </p:txBody>
      </p:sp>
      <p:sp>
        <p:nvSpPr>
          <p:cNvPr id="8" name="Oval 7"/>
          <p:cNvSpPr/>
          <p:nvPr/>
        </p:nvSpPr>
        <p:spPr>
          <a:xfrm>
            <a:off x="4114800" y="1691640"/>
            <a:ext cx="457200" cy="457200"/>
          </a:xfrm>
          <a:prstGeom prst="ellipse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1627632"/>
            <a:ext cx="280720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3B5C"/>
                </a:solidFill>
                <a:latin typeface="Calibri"/>
              </a:rPr>
              <a:t>Valores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2D2926"/>
                </a:solidFill>
                <a:latin typeface="Calibri"/>
              </a:rPr>
              <a:t>Histórico, Provisão e Accrual:
Atual / Novo / Diferença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691640"/>
            <a:ext cx="3657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A9E0"/>
                </a:solidFill>
                <a:latin typeface="Calibri"/>
              </a:rPr>
              <a:t>→</a:t>
            </a:r>
          </a:p>
        </p:txBody>
      </p:sp>
      <p:sp>
        <p:nvSpPr>
          <p:cNvPr id="11" name="Oval 10"/>
          <p:cNvSpPr/>
          <p:nvPr/>
        </p:nvSpPr>
        <p:spPr>
          <a:xfrm>
            <a:off x="7543800" y="1691640"/>
            <a:ext cx="457200" cy="457200"/>
          </a:xfrm>
          <a:prstGeom prst="ellipse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1627632"/>
            <a:ext cx="2807208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3B5C"/>
                </a:solidFill>
                <a:latin typeface="Calibri"/>
              </a:rPr>
              <a:t>Assistente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2D2926"/>
                </a:solidFill>
                <a:latin typeface="Calibri"/>
              </a:rPr>
              <a:t>Marca Inserido no LM / Elaw = Sim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88920"/>
            <a:ext cx="10835640" cy="6858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880360"/>
            <a:ext cx="1043330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C0392B"/>
                </a:solidFill>
                <a:latin typeface="Calibri"/>
              </a:rPr>
              <a:t>⚠️  Formato brasileiro obrigatório: ponto = milhar, vírgula = decimal — ex: 360.000,50.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57600"/>
            <a:ext cx="5257800" cy="242316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0480"/>
            <a:ext cx="484632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Calibri"/>
              </a:rPr>
              <a:t>⚠️  Alerta automático — Nicolau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Se qualquer diferença (Histórico, Provisão ou Accrual) for igual ou maior que R$ 400.000,00, aparece um botão pra abrir a nota de alerta pro Nicolau ao salvar.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657600"/>
            <a:ext cx="5212080" cy="2423160"/>
          </a:xfrm>
          <a:prstGeom prst="roundRect">
            <a:avLst>
              <a:gd name="adj" fmla="val 6000"/>
            </a:avLst>
          </a:prstGeom>
          <a:solidFill>
            <a:srgbClr val="E1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840480"/>
            <a:ext cx="48006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17A65"/>
                </a:solidFill>
                <a:latin typeface="Calibri"/>
              </a:rPr>
              <a:t>✓  Confirmação — Grupo Bridgestone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D2926"/>
                </a:solidFill>
                <a:latin typeface="Calibri"/>
              </a:rPr>
              <a:t>Quando "Inserido no LM" ou "Inserido no Elaw" vira Sim, aparece um botão pra abrir a confirmação pro Grupo Bridgestone, citando o advogado solicitante.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F7E92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10047" y="1188720"/>
            <a:ext cx="1371600" cy="1371600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4200" b="1">
                <a:solidFill>
                  <a:srgbClr val="FFFFFF"/>
                </a:solidFill>
                <a:latin typeface="Calibri"/>
              </a:rPr>
              <a:t>🗑️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788920"/>
            <a:ext cx="12191695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Excluir registros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047" y="3429000"/>
            <a:ext cx="8229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0" i="0">
                <a:solidFill>
                  <a:srgbClr val="BFE1F2"/>
                </a:solidFill>
                <a:latin typeface="Calibri"/>
              </a:rPr>
              <a:t>Toda linha do histórico, nas 5 abas, tem um botão 🗑️ Excluir na coluna Ações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55367" y="4297680"/>
            <a:ext cx="7680960" cy="13716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9687" y="4480560"/>
            <a:ext cx="713232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⚠️  A exclusão é permanente — não existe lixeira ou desfazer.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2D2926"/>
                </a:solidFill>
                <a:latin typeface="Calibri"/>
              </a:rPr>
              <a:t>Use somente para registros de teste ou duplicados, com certeza.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F9CB5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6F9CB5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Dúvidas?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BFE1F2"/>
                </a:solidFill>
                <a:latin typeface="Calibri"/>
              </a:rPr>
              <a:t>Fale com a Controladoria — equipe.controladoria@peixotoecury.com.br</a:t>
            </a:r>
          </a:p>
        </p:txBody>
      </p:sp>
      <p:sp>
        <p:nvSpPr>
          <p:cNvPr id="5" name="Rectangle 4"/>
          <p:cNvSpPr/>
          <p:nvPr/>
        </p:nvSpPr>
        <p:spPr>
          <a:xfrm>
            <a:off x="5547207" y="4114800"/>
            <a:ext cx="1097280" cy="27432"/>
          </a:xfrm>
          <a:prstGeom prst="rect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480560"/>
            <a:ext cx="12191695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Obrigado!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126480"/>
            <a:ext cx="12191695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F9CB5"/>
                </a:solidFill>
                <a:latin typeface="Calibri"/>
              </a:rPr>
              <a:t>LAWgico · Comunicações Bridgestone · Peixoto &amp; Cury Advogados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233172"/>
            <a:ext cx="768096" cy="7680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143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Lançamento IA — Extração de Valores</a:t>
            </a:r>
          </a:p>
          <a:p>
            <a:r>
              <a:rPr sz="1250" b="0">
                <a:solidFill>
                  <a:srgbClr val="BFE1F2"/>
                </a:solidFill>
                <a:latin typeface="Calibri"/>
              </a:rPr>
              <a:t>Ferramenta de apoio pra montar a grade de verbas antes da Inserção de Valores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706560" cy="2377440"/>
          </a:xfrm>
          <a:prstGeom prst="roundRect">
            <a:avLst/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340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3B5C"/>
                </a:solidFill>
                <a:latin typeface="Calibri"/>
              </a:rPr>
              <a:t>📤  Upload</a:t>
            </a:r>
          </a:p>
          <a:p>
            <a:r>
              <a:rPr sz="1200" b="0">
                <a:solidFill>
                  <a:srgbClr val="2D2926"/>
                </a:solidFill>
                <a:latin typeface="Calibri"/>
              </a:rPr>
              <a:t>PDF, XLSX ou TXT — ou cole o texto direto. Nada aqui é salvo automaticamente no banco de dados.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3800" y="1600200"/>
            <a:ext cx="3706560" cy="2377440"/>
          </a:xfrm>
          <a:prstGeom prst="roundRect">
            <a:avLst/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6680" y="1783080"/>
            <a:ext cx="3340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3B5C"/>
                </a:solidFill>
                <a:latin typeface="Calibri"/>
              </a:rPr>
              <a:t>📍  Leitura por posição</a:t>
            </a:r>
          </a:p>
          <a:p>
            <a:r>
              <a:rPr sz="1200" b="0">
                <a:solidFill>
                  <a:srgbClr val="2D2926"/>
                </a:solidFill>
                <a:latin typeface="Calibri"/>
              </a:rPr>
              <a:t>Via pdf.js: reconstrói a tabela pela posição real de cada texto — funciona até em PDFs rotacionados (comum nos cálculos PJe-Calc da MADI).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81800" y="1600200"/>
            <a:ext cx="3706560" cy="2377440"/>
          </a:xfrm>
          <a:prstGeom prst="roundRect">
            <a:avLst/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64680" y="1783080"/>
            <a:ext cx="3340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3B5C"/>
                </a:solidFill>
                <a:latin typeface="Calibri"/>
              </a:rPr>
              <a:t>🔤  Busca por palavra-chave</a:t>
            </a:r>
          </a:p>
          <a:p>
            <a:r>
              <a:rPr sz="1200" b="0">
                <a:solidFill>
                  <a:srgbClr val="2D2926"/>
                </a:solidFill>
                <a:latin typeface="Calibri"/>
              </a:rPr>
              <a:t>Reserva: usada quando o documento não tem a estrutura de tabela padrão (texto colado, XLSX, PDF fora do padrão).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297680"/>
            <a:ext cx="10835640" cy="1691640"/>
          </a:xfrm>
          <a:prstGeom prst="roundRect">
            <a:avLst/>
          </a:prstGeom>
          <a:solidFill>
            <a:srgbClr val="E3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0184" y="4322064"/>
            <a:ext cx="10786872" cy="1642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3B5C"/>
                </a:solidFill>
                <a:latin typeface="Calibri"/>
              </a:rPr>
              <a:t>📎  Débitos com terceiros não somam no Histórico</a:t>
            </a:r>
          </a:p>
          <a:p>
            <a:r>
              <a:rPr sz="1200" b="0">
                <a:solidFill>
                  <a:srgbClr val="2D2926"/>
                </a:solidFill>
                <a:latin typeface="Calibri"/>
              </a:rPr>
              <a:t>  Honorários periciais, honorários do patrono do reclamante e contribuição social ao INSS são mostrados numa caixa separada, só de referência.</a:t>
            </a:r>
          </a:p>
          <a:p>
            <a:r>
              <a:rPr sz="1200" b="0">
                <a:solidFill>
                  <a:srgbClr val="2D2926"/>
                </a:solidFill>
                <a:latin typeface="Calibri"/>
              </a:rPr>
              <a:t>  São devidos a terceiros (perito, advogado, INSS), não ao reclamante — por isso ficam fora de todas as somas (Histórico, Provisão e Accrual).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F7E92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7E92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233172"/>
            <a:ext cx="768096" cy="768096"/>
          </a:xfrm>
          <a:prstGeom prst="ellipse">
            <a:avLst/>
          </a:prstGeom>
          <a:solidFill>
            <a:srgbClr val="00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143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Lançamento IA — Histórico, Provisão e Accrual</a:t>
            </a:r>
          </a:p>
          <a:p>
            <a:r>
              <a:rPr sz="1250" b="0">
                <a:solidFill>
                  <a:srgbClr val="BFE1F2"/>
                </a:solidFill>
                <a:latin typeface="Calibri"/>
              </a:rPr>
              <a:t>O que o botão → Levar para Inserção de Valores calcula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3611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3B5C"/>
                </a:solidFill>
                <a:latin typeface="Calibri"/>
              </a:rPr>
              <a:t>Histórico</a:t>
            </a:r>
          </a:p>
          <a:p>
            <a:r>
              <a:rPr sz="1200" b="0">
                <a:solidFill>
                  <a:srgbClr val="2D2926"/>
                </a:solidFill>
                <a:latin typeface="Calibri"/>
              </a:rPr>
              <a:t>Soma do Principal de todas as verbas — valor na data da distribuição, sem correção nem juros.</a:t>
            </a:r>
          </a:p>
        </p:txBody>
      </p:sp>
      <p:sp>
        <p:nvSpPr>
          <p:cNvPr id="7" name="Oval 6"/>
          <p:cNvSpPr/>
          <p:nvPr/>
        </p:nvSpPr>
        <p:spPr>
          <a:xfrm>
            <a:off x="4434840" y="1600200"/>
            <a:ext cx="457200" cy="457200"/>
          </a:xfrm>
          <a:prstGeom prst="ellipse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611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3B5C"/>
                </a:solidFill>
                <a:latin typeface="Calibri"/>
              </a:rPr>
              <a:t>Provisão</a:t>
            </a:r>
          </a:p>
          <a:p>
            <a:r>
              <a:rPr sz="1200" b="0">
                <a:solidFill>
                  <a:srgbClr val="2D2926"/>
                </a:solidFill>
                <a:latin typeface="Calibri"/>
              </a:rPr>
              <a:t>Soma do Total de todas as verbas — valor corrigido + juros, melhor estimativa atual do passivo.</a:t>
            </a:r>
          </a:p>
        </p:txBody>
      </p:sp>
      <p:sp>
        <p:nvSpPr>
          <p:cNvPr id="9" name="Oval 8"/>
          <p:cNvSpPr/>
          <p:nvPr/>
        </p:nvSpPr>
        <p:spPr>
          <a:xfrm>
            <a:off x="8183880" y="1600200"/>
            <a:ext cx="457200" cy="457200"/>
          </a:xfrm>
          <a:prstGeom prst="ellipse">
            <a:avLst/>
          </a:prstGeom>
          <a:solidFill>
            <a:srgbClr val="00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194560"/>
            <a:ext cx="3611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3B5C"/>
                </a:solidFill>
                <a:latin typeface="Calibri"/>
              </a:rPr>
              <a:t>Accrual</a:t>
            </a:r>
          </a:p>
          <a:p>
            <a:r>
              <a:rPr sz="1200" b="0">
                <a:solidFill>
                  <a:srgbClr val="2D2926"/>
                </a:solidFill>
                <a:latin typeface="Calibri"/>
              </a:rPr>
              <a:t>% da Fase do processo × soma do Principal só das verbas marcadas como Provável.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03320"/>
            <a:ext cx="3520440" cy="1005840"/>
          </a:xfrm>
          <a:prstGeom prst="roundRect">
            <a:avLst/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4048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03B5C"/>
                </a:solidFill>
                <a:latin typeface="Calibri"/>
              </a:rPr>
              <a:t>Fase 1 — Conhecimento e Instrução</a:t>
            </a:r>
          </a:p>
          <a:p>
            <a:r>
              <a:rPr sz="1400" b="1">
                <a:solidFill>
                  <a:srgbClr val="00A9E0"/>
                </a:solidFill>
                <a:latin typeface="Calibri"/>
              </a:rPr>
              <a:t>40,5% do provável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703320"/>
            <a:ext cx="3520440" cy="1005840"/>
          </a:xfrm>
          <a:prstGeom prst="roundRect">
            <a:avLst/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84048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03B5C"/>
                </a:solidFill>
                <a:latin typeface="Calibri"/>
              </a:rPr>
              <a:t>Fase 2 — Recursal (TRT/TST)</a:t>
            </a:r>
          </a:p>
          <a:p>
            <a:r>
              <a:rPr sz="1400" b="1">
                <a:solidFill>
                  <a:srgbClr val="00A9E0"/>
                </a:solidFill>
                <a:latin typeface="Calibri"/>
              </a:rPr>
              <a:t>54% do provável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3703320"/>
            <a:ext cx="3520440" cy="1005840"/>
          </a:xfrm>
          <a:prstGeom prst="roundRect">
            <a:avLst/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84048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03B5C"/>
                </a:solidFill>
                <a:latin typeface="Calibri"/>
              </a:rPr>
              <a:t>Fase 3 — Execução</a:t>
            </a:r>
          </a:p>
          <a:p>
            <a:r>
              <a:rPr sz="1400" b="1">
                <a:solidFill>
                  <a:srgbClr val="00A9E0"/>
                </a:solidFill>
                <a:latin typeface="Calibri"/>
              </a:rPr>
              <a:t>100% do provável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029200"/>
            <a:ext cx="10835640" cy="914400"/>
          </a:xfrm>
          <a:prstGeom prst="round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0184" y="5053584"/>
            <a:ext cx="10786872" cy="865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C0392B"/>
                </a:solidFill>
                <a:latin typeface="Calibri"/>
              </a:rPr>
              <a:t>⚠️  Sem Fase selecionada, o Accrual não é calculado</a:t>
            </a:r>
          </a:p>
          <a:p>
            <a:r>
              <a:rPr sz="1150" b="0">
                <a:solidFill>
                  <a:srgbClr val="2D2926"/>
                </a:solidFill>
                <a:latin typeface="Calibri"/>
              </a:rPr>
              <a:t>  Nesse caso, preencha o campo manualmente na aba Inserção de Valores.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F7E92"/>
                </a:solidFill>
                <a:latin typeface="Calibri"/>
              </a:rPr>
              <a:t>LAWgico — Comunicações Bridgestone · Peixoto &amp; Cury Advogados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1295" y="6473952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7E92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